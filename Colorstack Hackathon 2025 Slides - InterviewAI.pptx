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Comforta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Comforta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Comforta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cb558a916_2_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7cb558a916_2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cb558a916_2_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7cb558a916_2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Relationship Id="rId5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pptmon.com/" TargetMode="External"/><Relationship Id="rId3" Type="http://schemas.openxmlformats.org/officeDocument/2006/relationships/image" Target="../media/image4.png"/><Relationship Id="rId4" Type="http://schemas.openxmlformats.org/officeDocument/2006/relationships/hyperlink" Target="http://www.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title">
  <p:cSld name="PPTMON 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580" y="0"/>
            <a:ext cx="336042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6">
            <a:alphaModFix/>
          </a:blip>
          <a:srcRect b="29721" l="0" r="57531" t="0"/>
          <a:stretch/>
        </p:blipFill>
        <p:spPr>
          <a:xfrm flipH="1">
            <a:off x="0" y="1528763"/>
            <a:ext cx="2730477" cy="361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PTMON slide">
  <p:cSld name="1_PPTMON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0" l="0" r="9955" t="23353"/>
          <a:stretch/>
        </p:blipFill>
        <p:spPr>
          <a:xfrm>
            <a:off x="4572000" y="0"/>
            <a:ext cx="45720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31726" l="31333" r="0" t="0"/>
          <a:stretch/>
        </p:blipFill>
        <p:spPr>
          <a:xfrm>
            <a:off x="0" y="2962275"/>
            <a:ext cx="3333840" cy="2169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PTMON slide">
  <p:cSld name="2_PPTMON slid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 rotWithShape="1">
          <a:blip r:embed="rId5">
            <a:alphaModFix/>
          </a:blip>
          <a:srcRect b="0" l="0" r="9955" t="23353"/>
          <a:stretch/>
        </p:blipFill>
        <p:spPr>
          <a:xfrm>
            <a:off x="6556631" y="0"/>
            <a:ext cx="2587369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 rotWithShape="1">
          <a:blip r:embed="rId6">
            <a:alphaModFix/>
          </a:blip>
          <a:srcRect b="31726" l="31333" r="0" t="0"/>
          <a:stretch/>
        </p:blipFill>
        <p:spPr>
          <a:xfrm>
            <a:off x="0" y="3545025"/>
            <a:ext cx="2438400" cy="1586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PPTMON slide">
  <p:cSld name="3_PPTMON slid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7"/>
          <p:cNvPicPr preferRelativeResize="0"/>
          <p:nvPr/>
        </p:nvPicPr>
        <p:blipFill rotWithShape="1">
          <a:blip r:embed="rId5">
            <a:alphaModFix/>
          </a:blip>
          <a:srcRect b="0" l="0" r="38265" t="0"/>
          <a:stretch/>
        </p:blipFill>
        <p:spPr>
          <a:xfrm>
            <a:off x="7069455" y="0"/>
            <a:ext cx="207454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7"/>
          <p:cNvPicPr preferRelativeResize="0"/>
          <p:nvPr/>
        </p:nvPicPr>
        <p:blipFill rotWithShape="1">
          <a:blip r:embed="rId6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PPTMON slide">
  <p:cSld name="5_PPTMON slid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8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8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7162800" y="0"/>
            <a:ext cx="1981200" cy="262280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8"/>
          <p:cNvSpPr/>
          <p:nvPr>
            <p:ph idx="2" type="pic"/>
          </p:nvPr>
        </p:nvSpPr>
        <p:spPr>
          <a:xfrm>
            <a:off x="5037099" y="428770"/>
            <a:ext cx="3501119" cy="4285961"/>
          </a:xfrm>
          <a:prstGeom prst="roundRect">
            <a:avLst>
              <a:gd fmla="val 10417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ctr" bIns="34275" lIns="68575" spcFirstLastPara="1" rIns="68575" wrap="square" tIns="7290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PPTMON slide">
  <p:cSld name="6_PPTMON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9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1411724" y="1731055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9"/>
          <p:cNvSpPr/>
          <p:nvPr>
            <p:ph idx="3" type="pic"/>
          </p:nvPr>
        </p:nvSpPr>
        <p:spPr>
          <a:xfrm>
            <a:off x="6271962" y="1731055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9"/>
          <p:cNvSpPr/>
          <p:nvPr>
            <p:ph idx="4" type="pic"/>
          </p:nvPr>
        </p:nvSpPr>
        <p:spPr>
          <a:xfrm>
            <a:off x="4651883" y="1731055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9"/>
          <p:cNvSpPr/>
          <p:nvPr>
            <p:ph idx="5" type="pic"/>
          </p:nvPr>
        </p:nvSpPr>
        <p:spPr>
          <a:xfrm>
            <a:off x="3031803" y="1731055"/>
            <a:ext cx="1460314" cy="1460313"/>
          </a:xfrm>
          <a:prstGeom prst="roundRect">
            <a:avLst>
              <a:gd fmla="val 8658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2" name="Google Shape;82;p19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9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7162800" y="0"/>
            <a:ext cx="1981200" cy="262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custom">
  <p:cSld name="PPTMON custom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PPTMON slide">
  <p:cSld name="4_PPTMON slid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1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1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7162800" y="0"/>
            <a:ext cx="1981200" cy="2622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PPTMON slide">
  <p:cSld name="7_PPTMON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2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4791066" y="0"/>
            <a:ext cx="4352934" cy="5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2"/>
          <p:cNvSpPr/>
          <p:nvPr>
            <p:ph idx="2" type="pic"/>
          </p:nvPr>
        </p:nvSpPr>
        <p:spPr>
          <a:xfrm>
            <a:off x="587504" y="1050131"/>
            <a:ext cx="1634490" cy="3536157"/>
          </a:xfrm>
          <a:prstGeom prst="roundRect">
            <a:avLst>
              <a:gd fmla="val 7322" name="adj"/>
            </a:avLst>
          </a:prstGeom>
          <a:solidFill>
            <a:schemeClr val="lt1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2"/>
          <p:cNvSpPr/>
          <p:nvPr>
            <p:ph idx="3" type="pic"/>
          </p:nvPr>
        </p:nvSpPr>
        <p:spPr>
          <a:xfrm>
            <a:off x="2711579" y="1050131"/>
            <a:ext cx="1634490" cy="3536157"/>
          </a:xfrm>
          <a:prstGeom prst="roundRect">
            <a:avLst>
              <a:gd fmla="val 7322" name="adj"/>
            </a:avLst>
          </a:prstGeom>
          <a:solidFill>
            <a:schemeClr val="lt1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PPTMON slide">
  <p:cSld name="8_PPTMON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3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4791066" y="0"/>
            <a:ext cx="4352934" cy="5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3"/>
          <p:cNvSpPr/>
          <p:nvPr>
            <p:ph idx="2" type="pic"/>
          </p:nvPr>
        </p:nvSpPr>
        <p:spPr>
          <a:xfrm>
            <a:off x="878206" y="878681"/>
            <a:ext cx="2868930" cy="3836194"/>
          </a:xfrm>
          <a:prstGeom prst="roundRect">
            <a:avLst>
              <a:gd fmla="val 1926" name="adj"/>
            </a:avLst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PPTMON slide">
  <p:cSld name="9_PPTMON slid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4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4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>
            <a:off x="0" y="2520691"/>
            <a:ext cx="1981200" cy="262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4"/>
          <p:cNvPicPr preferRelativeResize="0"/>
          <p:nvPr/>
        </p:nvPicPr>
        <p:blipFill rotWithShape="1">
          <a:blip r:embed="rId5">
            <a:alphaModFix/>
          </a:blip>
          <a:srcRect b="29721" l="0" r="57531" t="0"/>
          <a:stretch/>
        </p:blipFill>
        <p:spPr>
          <a:xfrm flipH="1" rot="10800000">
            <a:off x="4791066" y="0"/>
            <a:ext cx="4352934" cy="57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4"/>
          <p:cNvSpPr/>
          <p:nvPr>
            <p:ph idx="2" type="pic"/>
          </p:nvPr>
        </p:nvSpPr>
        <p:spPr>
          <a:xfrm>
            <a:off x="548643" y="1105744"/>
            <a:ext cx="4705350" cy="28384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1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MON slide">
  <p:cSld name="PPTMON slid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5427" y="5297943"/>
            <a:ext cx="185380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/>
        </p:nvSpPr>
        <p:spPr>
          <a:xfrm>
            <a:off x="3054769" y="5297943"/>
            <a:ext cx="201797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Presentation template by</a:t>
            </a:r>
            <a:endParaRPr sz="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004E"/>
            </a:gs>
            <a:gs pos="100000">
              <a:srgbClr val="0E034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549468" y="381520"/>
            <a:ext cx="352940" cy="3529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1885800" y="979691"/>
            <a:ext cx="53724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InterviewAI</a:t>
            </a:r>
            <a:endParaRPr b="1" sz="4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1066400" y="1814425"/>
            <a:ext cx="6840000" cy="1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Best Overall, Most Commercially Viable, People’s Choice, </a:t>
            </a:r>
            <a:endParaRPr sz="26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Best Underclassmen</a:t>
            </a:r>
            <a:endParaRPr sz="26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1885800" y="3672441"/>
            <a:ext cx="5372400" cy="9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Mathew Dawit, Prince Michael Kemani, and Fadlulah Omitogun</a:t>
            </a:r>
            <a:endParaRPr sz="18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/>
        </p:nvSpPr>
        <p:spPr>
          <a:xfrm>
            <a:off x="565350" y="387325"/>
            <a:ext cx="8013300" cy="4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Problem Statement: </a:t>
            </a:r>
            <a:endParaRPr b="1" sz="19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Many AI interview prep tools </a:t>
            </a: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push the same difficulty, tone, and expectations on every user, and </a:t>
            </a: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favor candidates who already speak in expected ways or certain tones; this can be detrimental and disadvantageous to many users including first-generation students, non-native speakers, neurodivergent users</a:t>
            </a:r>
            <a:endParaRPr b="1" sz="19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Solution:</a:t>
            </a:r>
            <a:endParaRPr b="1" sz="19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Our project addresses this issue by giving users full control over how the AI behaves, including feedback tone, depth, pacing, and question focus , while grounding interviews in the user’s own resume and experiences.</a:t>
            </a:r>
            <a:endParaRPr b="1" sz="1900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